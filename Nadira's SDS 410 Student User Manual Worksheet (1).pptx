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058400" cx="15544800"/>
  <p:notesSz cx="6858000" cy="9144000"/>
  <p:embeddedFontLst>
    <p:embeddedFont>
      <p:font typeface="Helvetica Neue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489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48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HelveticaNeue-boldItalic.fntdata"/><Relationship Id="rId9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HelveticaNeue-regular.fntdata"/><Relationship Id="rId8" Type="http://schemas.openxmlformats.org/officeDocument/2006/relationships/font" Target="fonts/HelveticaNeu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79623" y="685800"/>
            <a:ext cx="529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779623" y="685800"/>
            <a:ext cx="529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29904" y="1456058"/>
            <a:ext cx="14484900" cy="4014000"/>
          </a:xfrm>
          <a:prstGeom prst="rect">
            <a:avLst/>
          </a:prstGeom>
        </p:spPr>
        <p:txBody>
          <a:bodyPr anchorCtr="0" anchor="b" bIns="163200" lIns="163200" spcFirstLastPara="1" rIns="163200" wrap="square" tIns="1632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29890" y="5542289"/>
            <a:ext cx="14484900" cy="15501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29890" y="4206107"/>
            <a:ext cx="14484900" cy="16461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29890" y="870271"/>
            <a:ext cx="14484900" cy="11199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29890" y="2253729"/>
            <a:ext cx="14484900" cy="66810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29890" y="870271"/>
            <a:ext cx="14484900" cy="11199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29890" y="2253729"/>
            <a:ext cx="6799800" cy="66810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8215080" y="2253729"/>
            <a:ext cx="6799800" cy="66810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29890" y="870271"/>
            <a:ext cx="14484900" cy="11199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29890" y="1086507"/>
            <a:ext cx="4773600" cy="1477800"/>
          </a:xfrm>
          <a:prstGeom prst="rect">
            <a:avLst/>
          </a:prstGeom>
        </p:spPr>
        <p:txBody>
          <a:bodyPr anchorCtr="0" anchor="b" bIns="163200" lIns="163200" spcFirstLastPara="1" rIns="163200" wrap="square" tIns="1632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29890" y="2717440"/>
            <a:ext cx="4773600" cy="62175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33425" y="880293"/>
            <a:ext cx="10825200" cy="799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2pPr>
            <a:lvl3pPr lvl="2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3pPr>
            <a:lvl4pPr lvl="3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4pPr>
            <a:lvl5pPr lvl="4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5pPr>
            <a:lvl6pPr lvl="5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6pPr>
            <a:lvl7pPr lvl="6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7pPr>
            <a:lvl8pPr lvl="7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8pPr>
            <a:lvl9pPr lvl="8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772400" y="-244"/>
            <a:ext cx="77724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3200" lIns="163200" spcFirstLastPara="1" rIns="163200" wrap="square" tIns="163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51350" y="2411542"/>
            <a:ext cx="6876900" cy="2898600"/>
          </a:xfrm>
          <a:prstGeom prst="rect">
            <a:avLst/>
          </a:prstGeom>
        </p:spPr>
        <p:txBody>
          <a:bodyPr anchorCtr="0" anchor="b" bIns="163200" lIns="163200" spcFirstLastPara="1" rIns="163200" wrap="square" tIns="1632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51350" y="5481569"/>
            <a:ext cx="6876900" cy="24153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150" y="1415969"/>
            <a:ext cx="6522900" cy="72261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29890" y="8273124"/>
            <a:ext cx="10197900" cy="11832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29890" y="2163089"/>
            <a:ext cx="14484900" cy="3839700"/>
          </a:xfrm>
          <a:prstGeom prst="rect">
            <a:avLst/>
          </a:prstGeom>
        </p:spPr>
        <p:txBody>
          <a:bodyPr anchorCtr="0" anchor="b" bIns="163200" lIns="163200" spcFirstLastPara="1" rIns="163200" wrap="square" tIns="1632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29890" y="6164351"/>
            <a:ext cx="14484900" cy="2543700"/>
          </a:xfrm>
          <a:prstGeom prst="rect">
            <a:avLst/>
          </a:prstGeom>
        </p:spPr>
        <p:txBody>
          <a:bodyPr anchorCtr="0" anchor="t" bIns="163200" lIns="163200" spcFirstLastPara="1" rIns="163200" wrap="square" tIns="163200">
            <a:normAutofit/>
          </a:bodyPr>
          <a:lstStyle>
            <a:lvl1pPr indent="-431800" lvl="0" marL="4572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29890" y="870271"/>
            <a:ext cx="144849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200" lIns="163200" spcFirstLastPara="1" rIns="163200" wrap="square" tIns="1632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29890" y="2253729"/>
            <a:ext cx="144849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200" lIns="163200" spcFirstLastPara="1" rIns="163200" wrap="square" tIns="163200">
            <a:normAutofit/>
          </a:bodyPr>
          <a:lstStyle>
            <a:lvl1pPr indent="-431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●"/>
              <a:defRPr sz="3200">
                <a:solidFill>
                  <a:schemeClr val="dk2"/>
                </a:solidFill>
              </a:defRPr>
            </a:lvl1pPr>
            <a:lvl2pPr indent="-3873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2pPr>
            <a:lvl3pPr indent="-3873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3pPr>
            <a:lvl4pPr indent="-3873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4pPr>
            <a:lvl5pPr indent="-3873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5pPr>
            <a:lvl6pPr indent="-3873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6pPr>
            <a:lvl7pPr indent="-3873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7pPr>
            <a:lvl8pPr indent="-3873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8pPr>
            <a:lvl9pPr indent="-3873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3200" lIns="163200" spcFirstLastPara="1" rIns="163200" wrap="square" tIns="163200">
            <a:normAutofit/>
          </a:bodyPr>
          <a:lstStyle>
            <a:lvl1pPr lvl="0" algn="r">
              <a:buNone/>
              <a:defRPr sz="1800">
                <a:solidFill>
                  <a:schemeClr val="dk2"/>
                </a:solidFill>
              </a:defRPr>
            </a:lvl1pPr>
            <a:lvl2pPr lvl="1" algn="r">
              <a:buNone/>
              <a:defRPr sz="1800">
                <a:solidFill>
                  <a:schemeClr val="dk2"/>
                </a:solidFill>
              </a:defRPr>
            </a:lvl2pPr>
            <a:lvl3pPr lvl="2" algn="r">
              <a:buNone/>
              <a:defRPr sz="1800">
                <a:solidFill>
                  <a:schemeClr val="dk2"/>
                </a:solidFill>
              </a:defRPr>
            </a:lvl3pPr>
            <a:lvl4pPr lvl="3" algn="r">
              <a:buNone/>
              <a:defRPr sz="1800">
                <a:solidFill>
                  <a:schemeClr val="dk2"/>
                </a:solidFill>
              </a:defRPr>
            </a:lvl4pPr>
            <a:lvl5pPr lvl="4" algn="r">
              <a:buNone/>
              <a:defRPr sz="1800">
                <a:solidFill>
                  <a:schemeClr val="dk2"/>
                </a:solidFill>
              </a:defRPr>
            </a:lvl5pPr>
            <a:lvl6pPr lvl="5" algn="r">
              <a:buNone/>
              <a:defRPr sz="1800">
                <a:solidFill>
                  <a:schemeClr val="dk2"/>
                </a:solidFill>
              </a:defRPr>
            </a:lvl6pPr>
            <a:lvl7pPr lvl="6" algn="r">
              <a:buNone/>
              <a:defRPr sz="1800">
                <a:solidFill>
                  <a:schemeClr val="dk2"/>
                </a:solidFill>
              </a:defRPr>
            </a:lvl7pPr>
            <a:lvl8pPr lvl="7" algn="r">
              <a:buNone/>
              <a:defRPr sz="1800">
                <a:solidFill>
                  <a:schemeClr val="dk2"/>
                </a:solidFill>
              </a:defRPr>
            </a:lvl8pPr>
            <a:lvl9pPr lvl="8" algn="r">
              <a:buNone/>
              <a:defRPr sz="1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17841" l="5937" r="7376" t="5187"/>
          <a:stretch/>
        </p:blipFill>
        <p:spPr>
          <a:xfrm>
            <a:off x="326775" y="174375"/>
            <a:ext cx="1599201" cy="141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18175" y="576563"/>
            <a:ext cx="104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User’s Manual </a:t>
            </a:r>
            <a:r>
              <a:rPr lang="en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working with ___Nadira_________________</a:t>
            </a:r>
            <a:endParaRPr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59025" y="-1544838"/>
            <a:ext cx="4858401" cy="48584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232925" y="2350675"/>
            <a:ext cx="3669300" cy="236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1083576" y="1769988"/>
            <a:ext cx="196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SELF</a:t>
            </a:r>
            <a:endParaRPr b="1" sz="20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4053610" y="2350675"/>
            <a:ext cx="3669300" cy="236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7855678" y="2338800"/>
            <a:ext cx="3626400" cy="237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4607701" y="1770000"/>
            <a:ext cx="256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LIFE</a:t>
            </a:r>
            <a:endParaRPr b="1" sz="20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8227675" y="1770000"/>
            <a:ext cx="296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TOUGH STUFF</a:t>
            </a:r>
            <a:endParaRPr b="1" sz="20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7855650" y="4909487"/>
            <a:ext cx="3626400" cy="237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232944" y="4917299"/>
            <a:ext cx="3669300" cy="236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232944" y="7483922"/>
            <a:ext cx="3669300" cy="236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4053610" y="4917299"/>
            <a:ext cx="3669300" cy="236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4053610" y="7483922"/>
            <a:ext cx="3669300" cy="236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232925" y="2350675"/>
            <a:ext cx="366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Joy: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This is what helps me get excited about my work and feel engaged in what I’m doing.</a:t>
            </a:r>
            <a:endParaRPr sz="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232944" y="4917299"/>
            <a:ext cx="366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Individual Strengths</a:t>
            </a: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Outside of my collaborative work on teams, here are some of the things I do really well.</a:t>
            </a:r>
            <a:endParaRPr sz="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232944" y="7483922"/>
            <a:ext cx="366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Personality and Identities: 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Here are some of the things you need to know about who I am before we start to collaborate.</a:t>
            </a:r>
            <a:endParaRPr sz="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4053600" y="2350675"/>
            <a:ext cx="366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Communication Style: 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is how I process and share thoughts and ideas, and what I need from others.</a:t>
            </a:r>
            <a:endParaRPr sz="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4053610" y="4917299"/>
            <a:ext cx="366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Collaborative Strengths: 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working with a team, I bring these skills to help move the work and/or health of the team forward.</a:t>
            </a:r>
            <a:endParaRPr sz="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4053610" y="7483922"/>
            <a:ext cx="366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Teams: 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hope the teams or partnerships I work in could have these qualities.</a:t>
            </a:r>
            <a:endParaRPr sz="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7855697" y="2338800"/>
            <a:ext cx="362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Challenges: 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am not my best collaborative self in moments when...</a:t>
            </a:r>
            <a:endParaRPr sz="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7855650" y="4909487"/>
            <a:ext cx="362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Warning Signs: 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you see me do _______ it might mean ________, and here’s how you can help.</a:t>
            </a:r>
            <a:endParaRPr sz="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11677200" y="2384750"/>
            <a:ext cx="3564000" cy="122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 txBox="1"/>
          <p:nvPr/>
        </p:nvSpPr>
        <p:spPr>
          <a:xfrm>
            <a:off x="11906250" y="1770000"/>
            <a:ext cx="316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PRACTICAL STUFF</a:t>
            </a:r>
            <a:endParaRPr b="1" sz="20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11677182" y="2338900"/>
            <a:ext cx="356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Deadlines: 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 I complete assignments right away or work to the deadline?</a:t>
            </a:r>
            <a:endParaRPr sz="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11677176" y="3729300"/>
            <a:ext cx="3564000" cy="122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3"/>
          <p:cNvSpPr txBox="1"/>
          <p:nvPr/>
        </p:nvSpPr>
        <p:spPr>
          <a:xfrm>
            <a:off x="11677200" y="3706375"/>
            <a:ext cx="356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Task Expectations</a:t>
            </a: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do I like to keep track of what I’m doing/others are doing?</a:t>
            </a:r>
            <a:endParaRPr sz="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11677176" y="5073850"/>
            <a:ext cx="3564000" cy="122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 txBox="1"/>
          <p:nvPr/>
        </p:nvSpPr>
        <p:spPr>
          <a:xfrm>
            <a:off x="11677195" y="5073850"/>
            <a:ext cx="356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Communication: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What are my expectations about how/when 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team will be in touch?</a:t>
            </a:r>
            <a:endParaRPr sz="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11677176" y="6418400"/>
            <a:ext cx="3564000" cy="122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 txBox="1"/>
          <p:nvPr/>
        </p:nvSpPr>
        <p:spPr>
          <a:xfrm>
            <a:off x="11677195" y="6418400"/>
            <a:ext cx="356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Feedback</a:t>
            </a: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do I prefer to receive feedback on my work?</a:t>
            </a:r>
            <a:endParaRPr sz="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855650" y="7480174"/>
            <a:ext cx="3626400" cy="237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898422" y="7480174"/>
            <a:ext cx="362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Worries</a:t>
            </a: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is what makes me nervous or gives me pause when thinking about this project.</a:t>
            </a:r>
            <a:endParaRPr sz="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1677190" y="7762950"/>
            <a:ext cx="3564000" cy="2087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677209" y="7762950"/>
            <a:ext cx="356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Asking for Help</a:t>
            </a:r>
            <a:r>
              <a:rPr b="1"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expectations should we have about when/how our group will reach out for support?</a:t>
            </a:r>
            <a:endParaRPr sz="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34700" y="3088075"/>
            <a:ext cx="342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Doing the parts I am passionate about and really do well.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Someone holding me accountable and doing check-ins with me in a supportive and not controlling way.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Clear expectations and </a:t>
            </a:r>
            <a:r>
              <a:rPr lang="en" sz="1100">
                <a:solidFill>
                  <a:schemeClr val="dk2"/>
                </a:solidFill>
              </a:rPr>
              <a:t>responsibilities</a:t>
            </a:r>
            <a:r>
              <a:rPr lang="en" sz="1100">
                <a:solidFill>
                  <a:schemeClr val="dk2"/>
                </a:solidFill>
              </a:rPr>
              <a:t>.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125838" y="3029275"/>
            <a:ext cx="31638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Having a chat with them. I try to keep respectful of people and sometimes might keep things to myself. But this project is a great opportunity to practice sharing my thoughts and ideas.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961550" y="2831388"/>
            <a:ext cx="2833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Most times bc I am not feeling aligned with my group members </a:t>
            </a:r>
            <a:r>
              <a:rPr lang="en" sz="1100">
                <a:solidFill>
                  <a:schemeClr val="dk2"/>
                </a:solidFill>
              </a:rPr>
              <a:t>whether</a:t>
            </a:r>
            <a:r>
              <a:rPr lang="en" sz="1100">
                <a:solidFill>
                  <a:schemeClr val="dk2"/>
                </a:solidFill>
              </a:rPr>
              <a:t> it’s being on the same page, </a:t>
            </a:r>
            <a:r>
              <a:rPr lang="en" sz="1100">
                <a:solidFill>
                  <a:schemeClr val="dk2"/>
                </a:solidFill>
              </a:rPr>
              <a:t>distribution</a:t>
            </a:r>
            <a:r>
              <a:rPr lang="en" sz="1100">
                <a:solidFill>
                  <a:schemeClr val="dk2"/>
                </a:solidFill>
              </a:rPr>
              <a:t> of tasks, or how we show up for </a:t>
            </a:r>
            <a:r>
              <a:rPr lang="en" sz="1100">
                <a:solidFill>
                  <a:schemeClr val="dk2"/>
                </a:solidFill>
              </a:rPr>
              <a:t>each other</a:t>
            </a:r>
            <a:r>
              <a:rPr lang="en" sz="1100">
                <a:solidFill>
                  <a:schemeClr val="dk2"/>
                </a:solidFill>
              </a:rPr>
              <a:t>. </a:t>
            </a: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Sometimes it is bc I am </a:t>
            </a:r>
            <a:r>
              <a:rPr lang="en" sz="1100">
                <a:solidFill>
                  <a:schemeClr val="dk2"/>
                </a:solidFill>
              </a:rPr>
              <a:t>overwhelmed</a:t>
            </a:r>
            <a:r>
              <a:rPr lang="en" sz="1100">
                <a:solidFill>
                  <a:schemeClr val="dk2"/>
                </a:solidFill>
              </a:rPr>
              <a:t> with outside class factors such as work, family, and classes.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1677200" y="2702063"/>
            <a:ext cx="332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8/5/10 times, I work to the deadline. Given that my SDS </a:t>
            </a:r>
            <a:r>
              <a:rPr lang="en" sz="1100">
                <a:solidFill>
                  <a:schemeClr val="dk2"/>
                </a:solidFill>
              </a:rPr>
              <a:t>professors</a:t>
            </a:r>
            <a:r>
              <a:rPr lang="en" sz="1100">
                <a:solidFill>
                  <a:schemeClr val="dk2"/>
                </a:solidFill>
              </a:rPr>
              <a:t> have been </a:t>
            </a:r>
            <a:r>
              <a:rPr lang="en" sz="1100">
                <a:solidFill>
                  <a:schemeClr val="dk2"/>
                </a:solidFill>
              </a:rPr>
              <a:t>flexible</a:t>
            </a:r>
            <a:r>
              <a:rPr lang="en" sz="1100">
                <a:solidFill>
                  <a:schemeClr val="dk2"/>
                </a:solidFill>
              </a:rPr>
              <a:t> with deadlines, I am working to get into the habit of actually sticking to the deadlines.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26775" y="5584650"/>
            <a:ext cx="3322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Keeping the group running and making sure that people feel comfortable and good about their work and role and that tasks are </a:t>
            </a:r>
            <a:r>
              <a:rPr lang="en" sz="1100">
                <a:solidFill>
                  <a:schemeClr val="dk2"/>
                </a:solidFill>
              </a:rPr>
              <a:t>distributed</a:t>
            </a:r>
            <a:r>
              <a:rPr lang="en" sz="1100">
                <a:solidFill>
                  <a:schemeClr val="dk2"/>
                </a:solidFill>
              </a:rPr>
              <a:t> fairly.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Keeping it fun and interesting.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Lol making tiny human mistakes  🙃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329550" y="5537000"/>
            <a:ext cx="3163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Team-work and breaking the ice!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Offering to help within my scope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8052950" y="5435975"/>
            <a:ext cx="307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11614800" y="5508100"/>
            <a:ext cx="36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Communication</a:t>
            </a:r>
            <a:r>
              <a:rPr lang="en" sz="1100">
                <a:solidFill>
                  <a:schemeClr val="dk2"/>
                </a:solidFill>
              </a:rPr>
              <a:t> through slack and giving 6-8 hr </a:t>
            </a:r>
            <a:endParaRPr sz="11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response time.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1821975" y="6745900"/>
            <a:ext cx="373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Constructive feedback!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34700" y="8033700"/>
            <a:ext cx="3735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I like to have clear expectations from the start.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I am open to suggestions and </a:t>
            </a:r>
            <a:r>
              <a:rPr lang="en" sz="1100">
                <a:solidFill>
                  <a:schemeClr val="dk2"/>
                </a:solidFill>
              </a:rPr>
              <a:t>recommendation</a:t>
            </a:r>
            <a:r>
              <a:rPr lang="en" sz="1100">
                <a:solidFill>
                  <a:schemeClr val="dk2"/>
                </a:solidFill>
              </a:rPr>
              <a:t> but strongly prefer to </a:t>
            </a:r>
            <a:r>
              <a:rPr lang="en" sz="1100">
                <a:solidFill>
                  <a:schemeClr val="dk2"/>
                </a:solidFill>
              </a:rPr>
              <a:t>take time making my decision.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4237250" y="8062925"/>
            <a:ext cx="332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Being supportive, compassionate, respectful, and always assume good intentions.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21975" y="8208100"/>
            <a:ext cx="3248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Listening with intention, compassion, and assuming good </a:t>
            </a:r>
            <a:r>
              <a:rPr lang="en" sz="1100">
                <a:solidFill>
                  <a:schemeClr val="dk2"/>
                </a:solidFill>
              </a:rPr>
              <a:t>intention</a:t>
            </a:r>
            <a:r>
              <a:rPr lang="en" sz="1100">
                <a:solidFill>
                  <a:schemeClr val="dk2"/>
                </a:solidFill>
              </a:rPr>
              <a:t>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Explicitly</a:t>
            </a:r>
            <a:r>
              <a:rPr lang="en" sz="1100">
                <a:solidFill>
                  <a:schemeClr val="dk2"/>
                </a:solidFill>
              </a:rPr>
              <a:t> ask “what can I do in this situation to be helpful?”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If not able to offer support, communicate so or refer them to someone else.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8059000" y="7957100"/>
            <a:ext cx="3248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Being able to deliver the outcome that’s asked of us by Jack.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It doesn’t make me nervous, but I do think our team dynamic is equally as important as the technical tasks and our outcome.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Do I have all the skills, knowledge, and tool-kit to successfully complete this project.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1821975" y="4189688"/>
            <a:ext cx="3508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Stand-ups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Google doc to-do list and check-marks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